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a7c9f50d3b4f81" /><Relationship Type="http://schemas.openxmlformats.org/officeDocument/2006/relationships/extended-properties" Target="/docProps/app.xml" Id="Rafcbf5d6989d455d" /><Relationship Type="http://schemas.openxmlformats.org/officeDocument/2006/relationships/officeDocument" Target="/ppt/presentation.xml" Id="R5d3e5d38b57d4f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f0a0f537894444"/>
  </p:sldMasterIdLst>
  <p:notesMasterIdLst>
    <p:notesMasterId xmlns:r="http://schemas.openxmlformats.org/officeDocument/2006/relationships" r:id="R9c6a40556dff4ae9"/>
  </p:notesMasterIdLst>
  <p:sldIdLst>
    <p:sldId xmlns:r="http://schemas.openxmlformats.org/officeDocument/2006/relationships" id="256" r:id="R8705a13c97274582"/>
    <p:sldId xmlns:r="http://schemas.openxmlformats.org/officeDocument/2006/relationships" id="257" r:id="Re167a6fae1774fc6"/>
    <p:sldId xmlns:r="http://schemas.openxmlformats.org/officeDocument/2006/relationships" id="258" r:id="R73e9e774cd9b4f66"/>
    <p:sldId xmlns:r="http://schemas.openxmlformats.org/officeDocument/2006/relationships" id="259" r:id="R844cad2cadbe4f08"/>
    <p:sldId xmlns:r="http://schemas.openxmlformats.org/officeDocument/2006/relationships" id="260" r:id="R46845a4d9f6242ce"/>
    <p:sldId xmlns:r="http://schemas.openxmlformats.org/officeDocument/2006/relationships" id="261" r:id="R361eec0e6376459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7c0f51edb94438" /><Relationship Type="http://schemas.openxmlformats.org/officeDocument/2006/relationships/slideMaster" Target="/ppt/slideMasters/slideMaster1.xml" Id="R68f0a0f537894444" /><Relationship Type="http://schemas.openxmlformats.org/officeDocument/2006/relationships/notesMaster" Target="/ppt/notesMasters/notesMaster1.xml" Id="R9c6a40556dff4ae9" /><Relationship Type="http://schemas.openxmlformats.org/officeDocument/2006/relationships/presProps" Target="/ppt/presProps.xml" Id="R0f3a0501fc924783" /><Relationship Type="http://schemas.openxmlformats.org/officeDocument/2006/relationships/tableStyles" Target="/ppt/tableStyles.xml" Id="R37332d3abe674dad" /><Relationship Type="http://schemas.openxmlformats.org/officeDocument/2006/relationships/slide" Target="/ppt/slides/slide1.xml" Id="R8705a13c97274582" /><Relationship Type="http://schemas.openxmlformats.org/officeDocument/2006/relationships/slide" Target="/ppt/slides/slide2.xml" Id="Re167a6fae1774fc6" /><Relationship Type="http://schemas.openxmlformats.org/officeDocument/2006/relationships/slide" Target="/ppt/slides/slide3.xml" Id="R73e9e774cd9b4f66" /><Relationship Type="http://schemas.openxmlformats.org/officeDocument/2006/relationships/slide" Target="/ppt/slides/slide4.xml" Id="R844cad2cadbe4f08" /><Relationship Type="http://schemas.openxmlformats.org/officeDocument/2006/relationships/slide" Target="/ppt/slides/slide5.xml" Id="R46845a4d9f6242ce" /><Relationship Type="http://schemas.openxmlformats.org/officeDocument/2006/relationships/slide" Target="/ppt/slides/slide6.xml" Id="R361eec0e637645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0202ae69e04b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8ce73efea24f74" /><Relationship Type="http://schemas.openxmlformats.org/officeDocument/2006/relationships/notesMaster" Target="/ppt/notesMasters/notesMaster1.xml" Id="R8f787522f9414c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11109f33954483" /><Relationship Type="http://schemas.openxmlformats.org/officeDocument/2006/relationships/notesMaster" Target="/ppt/notesMasters/notesMaster1.xml" Id="R53df1a5c48e341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2b6b76dfcc48c4" /><Relationship Type="http://schemas.openxmlformats.org/officeDocument/2006/relationships/notesMaster" Target="/ppt/notesMasters/notesMaster1.xml" Id="R263a64cb774147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1d8cccb215404e" /><Relationship Type="http://schemas.openxmlformats.org/officeDocument/2006/relationships/notesMaster" Target="/ppt/notesMasters/notesMaster1.xml" Id="R9ea0a2fda83b4d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f6219d3eb24ffd" /><Relationship Type="http://schemas.openxmlformats.org/officeDocument/2006/relationships/notesMaster" Target="/ppt/notesMasters/notesMaster1.xml" Id="R68084b389d574d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48189d94e944cb" /><Relationship Type="http://schemas.openxmlformats.org/officeDocument/2006/relationships/notesMaster" Target="/ppt/notesMasters/notesMaster1.xml" Id="R112796f095e941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ea49c78a246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570e31a8a54f73" /><Relationship Type="http://schemas.openxmlformats.org/officeDocument/2006/relationships/slideLayout" Target="/ppt/slideLayouts/slideLayout1.xml" Id="R07a23e3907434c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a23e3907434c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8c4732c264828" /><Relationship Type="http://schemas.openxmlformats.org/officeDocument/2006/relationships/notesSlide" Target="/ppt/notesSlides/notesSlide1.xml" Id="R7eb2fd08f1f340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af472b2f146d4" /><Relationship Type="http://schemas.openxmlformats.org/officeDocument/2006/relationships/image" Target="/ppt/media/image.png" Id="R085d3c9c707a4994" /><Relationship Type="http://schemas.openxmlformats.org/officeDocument/2006/relationships/notesSlide" Target="/ppt/notesSlides/notesSlide2.xml" Id="R561452beeaa948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d21039e184ca7" /><Relationship Type="http://schemas.openxmlformats.org/officeDocument/2006/relationships/notesSlide" Target="/ppt/notesSlides/notesSlide3.xml" Id="R4a7dd6853ccf4d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8404514e6496d" /><Relationship Type="http://schemas.openxmlformats.org/officeDocument/2006/relationships/image" Target="/ppt/media/image2.png" Id="R8bb50a96fd5e4108" /><Relationship Type="http://schemas.openxmlformats.org/officeDocument/2006/relationships/notesSlide" Target="/ppt/notesSlides/notesSlide4.xml" Id="R6998ff9a3a934a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d0601f6dc4429" /><Relationship Type="http://schemas.openxmlformats.org/officeDocument/2006/relationships/image" Target="/ppt/media/image3.png" Id="R70897f8bb08d468d" /><Relationship Type="http://schemas.openxmlformats.org/officeDocument/2006/relationships/image" Target="/ppt/media/image4.png" Id="R6cef02757bcb4809" /><Relationship Type="http://schemas.openxmlformats.org/officeDocument/2006/relationships/notesSlide" Target="/ppt/notesSlides/notesSlide5.xml" Id="Rc1f94fdb37ba42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c8bf4bdad44e8" /><Relationship Type="http://schemas.openxmlformats.org/officeDocument/2006/relationships/image" Target="/ppt/media/image5.png" Id="Rdf5a1d940d724fb2" /><Relationship Type="http://schemas.openxmlformats.org/officeDocument/2006/relationships/notesSlide" Target="/ppt/notesSlides/notesSlide6.xml" Id="R9a43664b0ad046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B917F7-45FA-421F-8517-1CD919F2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D79"/>
          </a:solidFill>
          <a:ln xmlns:a="http://schemas.openxmlformats.org/drawingml/2006/main" w="0">
            <a:solidFill>
              <a:srgbClr val="087D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7CE9C-F673-4007-9455-E8D17A50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GOTYME · FINANCIAL SERVICES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F8ABF-29C7-468E-9632-68824A99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0E2C3B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E2C3B"/>
                </a:solidFill>
                <a:latin typeface="Arial"/>
                <a:ea typeface="Arial"/>
                <a:cs typeface="Arial"/>
              </a:rPr>
              <a:t>CaseFlow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89593-D32A-494F-97C3-BB05F4DD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172B38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172B38"/>
                </a:solidFill>
                <a:latin typeface="Arial"/>
                <a:ea typeface="Arial"/>
                <a:cs typeface="Arial"/>
              </a:rPr>
              <a:t>Turns an AML/KYT alert into a cited decision packet—and knows when not to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03D60-E23D-4940-B4E1-F78BEBE8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192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E2C3B"/>
          </a:solidFill>
          <a:ln xmlns:a="http://schemas.openxmlformats.org/drawingml/2006/main" w="0">
            <a:solidFill>
              <a:srgbClr val="0E2C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B8B90-EABE-497C-8E5D-4F404C54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52F4A-32CA-4061-A5A4-2D9E4145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1737C"/>
                </a:solidFill>
                <a:latin typeface="Arial"/>
                <a:ea typeface="Arial"/>
                <a:cs typeface="Arial"/>
              </a:rPr>
              <a:t>Evidence-first · Human-controlled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015FE-21A2-4FB2-B6CD-63E97D24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2388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1737C"/>
                </a:solidFill>
                <a:latin typeface="Arial"/>
                <a:ea typeface="Arial"/>
                <a:cs typeface="Arial"/>
              </a:rPr>
              <a:t>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1767594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63458A-3A5B-4387-9420-89F01464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THE PROBLEM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64AFF-9B5D-45C8-BC87-04902A69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82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B3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72B38"/>
                </a:solidFill>
                <a:latin typeface="Arial"/>
                <a:ea typeface="Arial"/>
                <a:cs typeface="Arial"/>
              </a:rPr>
              <a:t>The alert is not the bottleneck. Resolution 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0A124-71D9-4F43-A4D8-C3769DE7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173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D7623-6C9C-4920-AEEA-51209F7F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447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12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B3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8"/>
                </a:solidFill>
                <a:latin typeface="Arial"/>
                <a:ea typeface="Arial"/>
                <a:cs typeface="Arial"/>
              </a:rPr>
              <a:t>Analysts still reconstruct the case across customer, transaction, wallet, Travel Rule, policy, and prior-case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4C5E2-CC6A-4039-9645-DE4D5E7C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Vendor scores signal risk. They do not create a defensible next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A77BF-EC0B-4F23-9E0F-129DD060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1737C"/>
                </a:solidFill>
                <a:latin typeface="Arial"/>
                <a:ea typeface="Arial"/>
                <a:cs typeface="Arial"/>
              </a:rPr>
              <a:t>CaseFlow starts at the alert—not at raw monitoring—and assembles the review record around the analyst's actual job.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0C43E-5C9E-451E-8FF3-09CA3984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857375"/>
            <a:ext cx="6324600" cy="4257675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C8D4D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d3c9c707a4994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0200" y="1924050"/>
            <a:ext cx="6191250" cy="4124325"/>
          </a:xfrm>
          <a:prstGeom xmlns:a="http://schemas.openxmlformats.org/drawingml/2006/main" prst="roundRect">
            <a:avLst>
              <a:gd name="adj" fmla="val 184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C9FC2-FCA4-4840-8D79-C0EC52DF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1524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FF4ED"/>
          </a:solidFill>
          <a:ln xmlns:a="http://schemas.openxmlformats.org/drawingml/2006/main" w="0">
            <a:solidFill>
              <a:srgbClr val="DFF4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45B60-F1B1-4610-8F10-7866B0C2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SYNTHETIC DATA</a:t>
            </a:r>
          </a:p>
        </p:txBody>
      </p:sp>
    </p:spTree>
    <p:extLst>
      <p:ext uri="{BB962C8B-B14F-4D97-AF65-F5344CB8AC3E}">
        <p14:creationId xmlns:p14="http://schemas.microsoft.com/office/powerpoint/2010/main" val="345066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9F4C3A-BE6B-41AF-83ED-BBABFC78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AGENTIC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7ABD7-BD58-4C24-B7BC-CA5C994A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82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75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B3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72B38"/>
                </a:solidFill>
                <a:latin typeface="Arial"/>
                <a:ea typeface="Arial"/>
                <a:cs typeface="Arial"/>
              </a:rPr>
              <a:t>A live LLM calls tools to investigate; a second LLM is paid to disagree.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2A3F6-E1FE-4A10-86CE-31DCC3B7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173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028700" y="318135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D4D8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1EAB1-F658-4CC6-951C-F27DFE57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9051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D"/>
          </a:solidFill>
          <a:ln xmlns:a="http://schemas.openxmlformats.org/drawingml/2006/main" w="9525">
            <a:solidFill>
              <a:srgbClr val="A6D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4C88D-E75F-4F49-B468-23F1557E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480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4F7B0-6D4F-453F-B0BA-FC7DE80C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8142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BCA02-30CF-40C0-BAE5-731EFA47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8"/>
                </a:solidFill>
                <a:latin typeface="Arial"/>
                <a:ea typeface="Arial"/>
                <a:cs typeface="Arial"/>
              </a:rPr>
              <a:t>Normalize typed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2DA42-4FBA-4ADF-9C3B-FAF3B520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1737C"/>
                </a:solidFill>
                <a:latin typeface="Arial"/>
                <a:ea typeface="Arial"/>
                <a:cs typeface="Arial"/>
              </a:rPr>
              <a:t>get_customer_profile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E29CF-203C-40F8-8AFB-FF50A748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051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D"/>
          </a:solidFill>
          <a:ln xmlns:a="http://schemas.openxmlformats.org/drawingml/2006/main" w="9525">
            <a:solidFill>
              <a:srgbClr val="A6D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25AA1-0CE7-4A36-8548-00D4C794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480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87586-74E3-4D71-AE23-F810C7F6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8142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TRIAGE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82A9E-D807-4FA7-A692-33591D36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14337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8"/>
                </a:solidFill>
                <a:latin typeface="Arial"/>
                <a:ea typeface="Arial"/>
                <a:cs typeface="Arial"/>
              </a:rPr>
              <a:t>Rules + cited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9CBB4-18E0-44D8-8684-42E557DD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8768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1737C"/>
                </a:solidFill>
                <a:latin typeface="Arial"/>
                <a:ea typeface="Arial"/>
                <a:cs typeface="Arial"/>
              </a:rPr>
              <a:t>search_policy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7417B-3E59-4202-808A-A9B7C1ED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9051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D"/>
          </a:solidFill>
          <a:ln xmlns:a="http://schemas.openxmlformats.org/drawingml/2006/main" w="9525">
            <a:solidFill>
              <a:srgbClr val="A6D3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F109B-F4BF-4346-8DA5-B64D4303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480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A12164-AAA1-44C2-9916-B883CE0F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8142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CA679-9217-4C4A-B1C8-FAC7B446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4337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8"/>
                </a:solidFill>
                <a:latin typeface="Arial"/>
                <a:ea typeface="Arial"/>
                <a:cs typeface="Arial"/>
              </a:rPr>
              <a:t>Run only when needed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06C67-05C0-4F09-AD5B-19E3E8ED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8768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1737C"/>
                </a:solidFill>
                <a:latin typeface="Arial"/>
                <a:ea typeface="Arial"/>
                <a:cs typeface="Arial"/>
              </a:rPr>
              <a:t>get_wallet_intelligence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CA7F9-0CD8-4000-9AED-8359BEC8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051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E6B9B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D62E5A-9940-4C38-B37F-78D61093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480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63F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63F3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134349-8C47-4B6D-BBA9-FB80D484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8142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AC6AB9-752B-4223-BDBD-E3CA8762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14337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8"/>
                </a:solidFill>
                <a:latin typeface="Arial"/>
                <a:ea typeface="Arial"/>
                <a:cs typeface="Arial"/>
              </a:rPr>
              <a:t>Attack assumptions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DE94B1-45A3-4C79-8BA9-66DAF66D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8768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1737C"/>
                </a:solidFill>
                <a:latin typeface="Arial"/>
                <a:ea typeface="Arial"/>
                <a:cs typeface="Arial"/>
              </a:rPr>
              <a:t>raise_objection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550B7E-BE26-4AAD-BCED-B7FB5203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051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D"/>
          </a:solidFill>
          <a:ln xmlns:a="http://schemas.openxmlformats.org/drawingml/2006/main" w="9525">
            <a:solidFill>
              <a:srgbClr val="A6D3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2EAEE4-F1B0-4CF2-AA84-051534B5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0480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2E56F1-1496-478F-950E-3DE70EB6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8142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F19377-A9FD-490E-A2EB-63927D25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4337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8"/>
                </a:solidFill>
                <a:latin typeface="Arial"/>
                <a:ea typeface="Arial"/>
                <a:cs typeface="Arial"/>
              </a:rPr>
              <a:t>Seal one 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8FAB7A-8BD0-4638-B6A3-6119DED9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768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1737C"/>
                </a:solidFill>
                <a:latin typeface="Arial"/>
                <a:ea typeface="Arial"/>
                <a:cs typeface="Arial"/>
              </a:rPr>
              <a:t>validatePacket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21F787-2C8E-4E29-98EC-B4C80F97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182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E2C3B"/>
          </a:solidFill>
          <a:ln xmlns:a="http://schemas.openxmlformats.org/drawingml/2006/main" w="0">
            <a:solidFill>
              <a:srgbClr val="0E2C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811E4F-0520-41C3-A459-1941DAF0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4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Bounded autonomy: exactly 3 recommendations · ≤2 critique rounds · human owns every action</a:t>
            </a:r>
          </a:p>
        </p:txBody>
      </p:sp>
    </p:spTree>
    <p:extLst>
      <p:ext uri="{BB962C8B-B14F-4D97-AF65-F5344CB8AC3E}">
        <p14:creationId xmlns:p14="http://schemas.microsoft.com/office/powerpoint/2010/main" val="20201507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ACCB6D-5AED-4BCD-96C0-94FCE9BD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WHY IT WINS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28E5A-93A9-4C88-8662-70B9F6D0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82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75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B3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72B38"/>
                </a:solidFill>
                <a:latin typeface="Arial"/>
                <a:ea typeface="Arial"/>
                <a:cs typeface="Arial"/>
              </a:rPr>
              <a:t>CaseFlow learns without changing policy behind your back.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FEFE2-B3B2-480A-A7DC-625CFAE5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173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3A2DE-38D5-4F8E-BBA0-D81B4FE5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85950"/>
            <a:ext cx="661035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C8D4D8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50a96fd5e4108"/>
          <a:srcRect xmlns:a="http://schemas.openxmlformats.org/drawingml/2006/main" l="0" t="37" r="0" b="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952625"/>
            <a:ext cx="6477000" cy="4314825"/>
          </a:xfrm>
          <a:prstGeom xmlns:a="http://schemas.openxmlformats.org/drawingml/2006/main" prst="roundRect">
            <a:avLst>
              <a:gd name="adj" fmla="val 176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8BEF6-AC24-41C3-A0FE-A6E763B1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383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B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B38"/>
                </a:solidFill>
                <a:latin typeface="Arial"/>
                <a:ea typeface="Arial"/>
                <a:cs typeface="Arial"/>
              </a:rPr>
              <a:t>Analyst feedback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FA577-320C-4FDF-ACF7-AAF2DE53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75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1737C"/>
                </a:solidFill>
                <a:latin typeface="Arial"/>
                <a:ea typeface="Arial"/>
                <a:cs typeface="Arial"/>
              </a:rPr>
              <a:t>becomes a versioned proposal—not an invisible prompt or threshold mutation.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9F701-7585-479F-A720-3CF71968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24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B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B38"/>
                </a:solidFill>
                <a:latin typeface="Arial"/>
                <a:ea typeface="Arial"/>
                <a:cs typeface="Arial"/>
              </a:rPr>
              <a:t>Historical replay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62761-ABAE-47D0-9670-B73F3C63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433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952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1737C"/>
                </a:solidFill>
                <a:latin typeface="Arial"/>
                <a:ea typeface="Arial"/>
                <a:cs typeface="Arial"/>
              </a:rPr>
              <a:t>shows changed outcomes, regressions, and agreement delta on isolated labels.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DBC15-7EF0-47D9-912A-4375B171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101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Human activation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49712-FA5B-430B-9B81-14073774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4292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88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1737C"/>
                </a:solidFill>
                <a:latin typeface="Arial"/>
                <a:ea typeface="Arial"/>
                <a:cs typeface="Arial"/>
              </a:rPr>
              <a:t>keeps active policy unchanged until a compliance owner approves and deploys it.</a:t>
            </a:r>
          </a:p>
        </p:txBody>
      </p:sp>
    </p:spTree>
    <p:extLst>
      <p:ext uri="{BB962C8B-B14F-4D97-AF65-F5344CB8AC3E}">
        <p14:creationId xmlns:p14="http://schemas.microsoft.com/office/powerpoint/2010/main" val="419944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3352AE-0D6C-4EFC-9DAD-7AE6C401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THE 60-SECOND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1B88E-006E-4C93-9346-A5587AB0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82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85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B3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72B38"/>
                </a:solidFill>
                <a:latin typeface="Arial"/>
                <a:ea typeface="Arial"/>
                <a:cs typeface="Arial"/>
              </a:rPr>
              <a:t>When evidence is missing, the correct action is to stop.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AF647-7BBB-4359-B1F2-1B3ACF8E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1737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502FB-7CB9-4E0A-AA11-321D9FCB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33575"/>
            <a:ext cx="5229225" cy="3533775"/>
          </a:xfrm>
          <a:prstGeom xmlns:a="http://schemas.openxmlformats.org/drawingml/2006/main" prst="roundRect">
            <a:avLst>
              <a:gd name="adj" fmla="val 3235"/>
            </a:avLst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C8D4D8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97f8bb08d468d"/>
          <a:srcRect xmlns:a="http://schemas.openxmlformats.org/drawingml/2006/main" l="47" t="0" r="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000250"/>
            <a:ext cx="5095875" cy="3400425"/>
          </a:xfrm>
          <a:prstGeom xmlns:a="http://schemas.openxmlformats.org/drawingml/2006/main" prst="roundRect">
            <a:avLst>
              <a:gd name="adj" fmla="val 22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1A662-2414-4FA2-B870-91D0C5E6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33575"/>
            <a:ext cx="5229225" cy="3533775"/>
          </a:xfrm>
          <a:prstGeom xmlns:a="http://schemas.openxmlformats.org/drawingml/2006/main" prst="roundRect">
            <a:avLst>
              <a:gd name="adj" fmla="val 3235"/>
            </a:avLst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C8D4D8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f02757bcb4809"/>
          <a:srcRect xmlns:a="http://schemas.openxmlformats.org/drawingml/2006/main" l="47" t="0" r="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00825" y="2000250"/>
            <a:ext cx="5095875" cy="3400425"/>
          </a:xfrm>
          <a:prstGeom xmlns:a="http://schemas.openxmlformats.org/drawingml/2006/main" prst="roundRect">
            <a:avLst>
              <a:gd name="adj" fmla="val 224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661D4-B3D9-4781-B0EA-9C72BF56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524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0">
            <a:solidFill>
              <a:srgbClr val="FFF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B4F91-1A7D-445C-8470-49193345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864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8611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6110"/>
                </a:solidFill>
                <a:latin typeface="Arial"/>
                <a:ea typeface="Arial"/>
                <a:cs typeface="Arial"/>
              </a:rPr>
              <a:t>REQUEST_EVIDENCE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F4491-A01A-4FE0-88FB-E0DC7879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769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1737C"/>
                </a:solidFill>
                <a:latin typeface="Arial"/>
                <a:ea typeface="Arial"/>
                <a:cs typeface="Arial"/>
              </a:rPr>
              <a:t>Beneficiary identity + VASP missing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87543-8C5A-441F-B223-6C0BF5BC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619750"/>
            <a:ext cx="1524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E6372-ADE7-4E33-A216-43F7F661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6864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63F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63F3F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545ED-8E26-4583-AEC6-D23C8009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6769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1737C"/>
                </a:solidFill>
                <a:latin typeface="Arial"/>
                <a:ea typeface="Arial"/>
                <a:cs typeface="Arial"/>
              </a:rPr>
              <a:t>Same case · evidence added · audit preserved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02D29-D9C5-43CD-AAC6-8F7DA069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00425"/>
            <a:ext cx="53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9171813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B1D5DE-656C-4EC0-A99A-9191AE85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MEASURED EVIDENCE +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8DDEC-B999-4C84-9DB4-2FE3B06B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82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75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B3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72B38"/>
                </a:solidFill>
                <a:latin typeface="Arial"/>
                <a:ea typeface="Arial"/>
                <a:cs typeface="Arial"/>
              </a:rPr>
              <a:t>Synthetic evidence proves the workflow contract—not production impact.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A850F-C523-4B3D-9065-C992F899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1737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ACD29-038F-4E59-ACF9-7536A0F9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85950"/>
            <a:ext cx="584835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C8D4D8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a1d940d724f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952625"/>
            <a:ext cx="5715000" cy="3810000"/>
          </a:xfrm>
          <a:prstGeom xmlns:a="http://schemas.openxmlformats.org/drawingml/2006/main" prst="roundRect">
            <a:avLst>
              <a:gd name="adj" fmla="val 2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758AC-334D-42FF-A50B-97404A94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621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C8D4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329CC-B140-434F-B66B-DB380B36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18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8C6C3-AA48-4647-A92E-1006FF7B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39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38"/>
                </a:solidFill>
                <a:latin typeface="Arial"/>
                <a:ea typeface="Arial"/>
                <a:cs typeface="Arial"/>
              </a:rPr>
              <a:t>disposition agreement (measured, live agent)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1949B-0EF8-4697-BF8E-5013312D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C8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FB3A0-D023-468E-90E7-442CF196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623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69900-16F9-4C56-A786-30B3FB7E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38"/>
                </a:solidFill>
                <a:latin typeface="Arial"/>
                <a:ea typeface="Arial"/>
                <a:cs typeface="Arial"/>
              </a:rPr>
              <a:t>required policy-citation 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73844-39AC-4C1C-80D5-FFA5D98C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C8D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3E1BF-09FB-4241-8BD9-50A2701D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291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87D7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950B5-DE1F-469F-9938-97F054A3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05300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08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38"/>
                </a:solidFill>
                <a:latin typeface="Arial"/>
                <a:ea typeface="Arial"/>
                <a:cs typeface="Arial"/>
              </a:rPr>
              <a:t>fabricated packets (guardrails held)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2BFEF-0D2B-43F1-8BD5-F0E926C8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76850"/>
            <a:ext cx="4476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E2C3B"/>
          </a:solidFill>
          <a:ln xmlns:a="http://schemas.openxmlformats.org/drawingml/2006/main" w="0">
            <a:solidFill>
              <a:srgbClr val="0E2C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24475-93F2-4A3A-A341-7052FB83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10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7D5C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7D5CB"/>
                </a:solidFill>
                <a:latin typeface="Arial"/>
                <a:ea typeface="Arial"/>
                <a:cs typeface="Arial"/>
              </a:rPr>
              <a:t>NEXT: PILOT WITH GOTYME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565B6-F87E-493A-BF8E-D85B63BA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76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Alert + policy schemas. Analyst-owned outcomes.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0DEE5-1AA6-4E3E-9E3C-17EBDA39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37C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1737C"/>
                </a:solidFill>
                <a:latin typeface="Arial"/>
                <a:ea typeface="Arial"/>
                <a:cs typeface="Arial"/>
              </a:rPr>
              <a:t>Synthetic fixture results only. No production accuracy, false-positive reduction, time-savings, or ROI claim.</a:t>
            </a:r>
          </a:p>
        </p:txBody>
      </p:sp>
    </p:spTree>
    <p:extLst>
      <p:ext uri="{BB962C8B-B14F-4D97-AF65-F5344CB8AC3E}">
        <p14:creationId xmlns:p14="http://schemas.microsoft.com/office/powerpoint/2010/main" val="566519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2026-07-11T19:59:38.8940000Z</dcterms:created>
  <dcterms:modified xsi:type="dcterms:W3CDTF">2026-07-11T19:59:38.8940000Z</dcterms:modified>
</coreProperties>
</file>